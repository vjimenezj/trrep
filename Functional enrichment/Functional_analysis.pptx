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73" r:id="rId4"/>
    <p:sldId id="283" r:id="rId5"/>
    <p:sldId id="284" r:id="rId6"/>
    <p:sldId id="285" r:id="rId7"/>
    <p:sldId id="274" r:id="rId8"/>
    <p:sldId id="277" r:id="rId9"/>
    <p:sldId id="279" r:id="rId10"/>
    <p:sldId id="280" r:id="rId11"/>
    <p:sldId id="281" r:id="rId12"/>
    <p:sldId id="276" r:id="rId13"/>
    <p:sldId id="271" r:id="rId14"/>
    <p:sldId id="282" r:id="rId15"/>
    <p:sldId id="288" r:id="rId16"/>
    <p:sldId id="262" r:id="rId17"/>
    <p:sldId id="287" r:id="rId18"/>
    <p:sldId id="272" r:id="rId19"/>
    <p:sldId id="263" r:id="rId20"/>
    <p:sldId id="268" r:id="rId21"/>
    <p:sldId id="267" r:id="rId22"/>
    <p:sldId id="264" r:id="rId23"/>
    <p:sldId id="292" r:id="rId24"/>
    <p:sldId id="269" r:id="rId25"/>
    <p:sldId id="265" r:id="rId26"/>
    <p:sldId id="270" r:id="rId27"/>
    <p:sldId id="29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6385" autoAdjust="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C86D8-94B4-4B75-A932-41FD61F1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4C2B7-594F-4CB7-BA64-60A5057C7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</a:t>
            </a:r>
            <a:r>
              <a:rPr lang="en-US"/>
              <a:t>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08EC4-0B25-4AD3-B980-21EAA3AA7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E1F36-E9AE-4441-AB80-B67F5A1A0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3CCC4-09F9-4715-A3BC-88F1E5F6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7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3254C-8294-4777-B1E6-1E4925E60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BAA34-AC62-43CD-AC0A-2A9E46087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DF4C0-936D-4FB4-8935-9B61F686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15DF7-5C02-4835-A8AA-2D2BD3012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AFBAF-87F2-4E80-8E05-A9629294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101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D919-61C8-4B17-97DB-B4460666A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A5E1C-6237-4EA2-A73E-8510C36C7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566B4-6085-4578-9BC2-446F2E22F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1A570-5030-4ECE-9C4D-5FD5E7F4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35B86-35E2-43C8-BC76-74132D61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650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BF71-7B8E-4527-B44D-343FAA46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CFE3-DB34-486A-AAD1-D86A21DE6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10149-8997-4C2D-9949-688835CC8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AB029-0476-4010-B4B8-78CB7A0E4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0E94E-D62B-4143-A947-6BD3A4C30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AE690-DFE3-4337-B5FE-5CE789B9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03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DEAB-CB26-42C1-8C48-CB56E2AC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BDA0C-16FD-449E-A441-B3DE06B75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82795-29BD-4F2D-B22A-524AF86FC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77FFB-46E6-42C2-B3DF-7A656DBEA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A40603-C574-4CD0-B8C4-19A24C358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152D8-4416-440C-9563-C6B4D03D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727AC6-BC0E-48DE-B83A-46A287D5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47C3D4-0175-45E4-BF21-50D5EB78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49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4621-5F56-447C-8E88-A4761BCC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1CBD2-788A-4DE2-BA0B-89F4F731B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90D42-1DDA-4C0D-9E02-34805A63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F170E-072F-43AB-A078-3D0D81E9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900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64FA7B-3363-4D88-B8D7-279930BE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220C17-0189-420A-8A7A-E8F2B6E1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C1E62-341C-43B1-8700-24695E3F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58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F0E7-C2D0-4694-8D1B-024A0D9A2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B9C06-BAE9-468D-805A-BA2A4B5B2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2AFA9-66B8-4E49-B299-1793E64A4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EE0D4-5BC3-48A6-914E-7B270FC5E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7DFCB-E45A-4C88-A979-E645E547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9FB12-C613-4683-A428-2E67046D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55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11C56-EEC1-4164-9616-7230B95C7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01837-E141-4A65-9C6C-935DE2A5F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DF985-D0B2-46E0-9CFF-6811F2A81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36B89-4ABD-44A2-BC0E-180489A8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E107A-3D9D-4A66-AC69-F77F22F02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0B212-E300-476C-93DC-1B00A9BD6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80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7E6C-21D2-4667-9E7E-CA91B145D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7E05F-5DA2-4EC7-852D-26A32A894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E259F-98CD-497A-B575-BC29A3483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B48B0-7C29-4723-8F8C-D8EE0C359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41EC5-3890-42EC-B272-ABFAE675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016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2E2E7-26A7-4DD2-8259-9A4D37B16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4C3AA-D39E-44E9-9826-798047E74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C244D-A8CF-4A1C-96FE-B1B3353F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636B1-BCDA-418C-BBAA-892A8A63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4C9C1-3CF4-4B0F-A6F0-B4AF2529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6FAC8A-CC55-46BF-B4CD-73FC7DC0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51B0D-9866-4C01-A7B3-932227BBC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11363-357C-4086-9A2E-2C5AAF73D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EE569-9F29-4476-8AF5-273BCFA1814E}" type="datetimeFigureOut">
              <a:rPr lang="en-US" smtClean="0"/>
              <a:t>2/16/2022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6591C-F80C-4886-B39B-FBECA1299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A44AA-9664-46BA-88D2-0F9463EC8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A0FB5-95DA-4CC9-945A-0D9F56CF06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851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it.cs.ut.ee/gprofiler/gost" TargetMode="External"/><Relationship Id="rId2" Type="http://schemas.openxmlformats.org/officeDocument/2006/relationships/hyperlink" Target="https://david.ncifcrf.gov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vjimenezj/TRREP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jimenezj/TRREP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9B6D-A716-42AB-A8C7-1D6B374F61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B6ADA-86CD-492C-8770-9861D4E50D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89168C-6F5D-4ED1-9AA4-6FAD99B87B46}"/>
              </a:ext>
            </a:extLst>
          </p:cNvPr>
          <p:cNvSpPr txBox="1"/>
          <p:nvPr/>
        </p:nvSpPr>
        <p:spPr>
          <a:xfrm>
            <a:off x="7860484" y="5752415"/>
            <a:ext cx="3548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Víctor Jiménez-Jiménez</a:t>
            </a:r>
          </a:p>
          <a:p>
            <a:pPr algn="r"/>
            <a:r>
              <a:rPr lang="en-US" dirty="0"/>
              <a:t>vjimenezj@cnic.es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F35055-5B5A-4753-8219-1FEE5172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905" y="559565"/>
            <a:ext cx="4152122" cy="67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542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D395-4DEA-4ED9-AE8C-FADCF514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functional analysis?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A1473-6025-488E-ACC5-5A4AB2A9D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Description/Interpretation</a:t>
            </a:r>
          </a:p>
          <a:p>
            <a:r>
              <a:rPr lang="en-US" dirty="0"/>
              <a:t>Hypothesis formulation:</a:t>
            </a:r>
          </a:p>
          <a:p>
            <a:pPr lvl="1">
              <a:buFontTx/>
              <a:buChar char="-"/>
            </a:pPr>
            <a:r>
              <a:rPr lang="en-US" dirty="0"/>
              <a:t>Mechanisms (pathways/TFs involved)</a:t>
            </a:r>
          </a:p>
          <a:p>
            <a:pPr lvl="1">
              <a:buFontTx/>
              <a:buChar char="-"/>
            </a:pPr>
            <a:r>
              <a:rPr lang="en-US" dirty="0"/>
              <a:t>Drugs with similar/opposing effects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1A55B3C-3974-4060-A923-B1B177DDB7AC}"/>
              </a:ext>
            </a:extLst>
          </p:cNvPr>
          <p:cNvGrpSpPr/>
          <p:nvPr/>
        </p:nvGrpSpPr>
        <p:grpSpPr>
          <a:xfrm>
            <a:off x="2054058" y="4157036"/>
            <a:ext cx="1289050" cy="1815306"/>
            <a:chOff x="1936750" y="4001294"/>
            <a:chExt cx="1289050" cy="181530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503D4FD-CA51-4CC3-A741-0716592DB5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5562" y="4114800"/>
              <a:ext cx="1061053" cy="757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53FAB68-01DA-4B19-BF54-EF8DCFE8B5A4}"/>
                </a:ext>
              </a:extLst>
            </p:cNvPr>
            <p:cNvGrpSpPr/>
            <p:nvPr/>
          </p:nvGrpSpPr>
          <p:grpSpPr>
            <a:xfrm>
              <a:off x="2152871" y="5007727"/>
              <a:ext cx="926434" cy="660436"/>
              <a:chOff x="2081461" y="5293896"/>
              <a:chExt cx="926434" cy="660436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143668A-2154-4400-96B4-F38D8182FA88}"/>
                  </a:ext>
                </a:extLst>
              </p:cNvPr>
              <p:cNvSpPr/>
              <p:nvPr/>
            </p:nvSpPr>
            <p:spPr>
              <a:xfrm>
                <a:off x="2081463" y="5293896"/>
                <a:ext cx="926432" cy="18063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2C7D3F6-5F9F-4933-A3EF-43703024FCFD}"/>
                  </a:ext>
                </a:extLst>
              </p:cNvPr>
              <p:cNvCxnSpPr>
                <a:stCxn id="7" idx="2"/>
              </p:cNvCxnSpPr>
              <p:nvPr/>
            </p:nvCxnSpPr>
            <p:spPr>
              <a:xfrm>
                <a:off x="2081463" y="5384211"/>
                <a:ext cx="0" cy="50595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A99004C-133B-4450-B042-6D09E8E61607}"/>
                  </a:ext>
                </a:extLst>
              </p:cNvPr>
              <p:cNvCxnSpPr/>
              <p:nvPr/>
            </p:nvCxnSpPr>
            <p:spPr>
              <a:xfrm>
                <a:off x="3007895" y="5384211"/>
                <a:ext cx="0" cy="50595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F181AD-0DA8-4FF4-8CB1-5BB8FFD50CCF}"/>
                  </a:ext>
                </a:extLst>
              </p:cNvPr>
              <p:cNvSpPr txBox="1"/>
              <p:nvPr/>
            </p:nvSpPr>
            <p:spPr>
              <a:xfrm>
                <a:off x="2081461" y="5528455"/>
                <a:ext cx="9264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Database</a:t>
                </a: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D0C4EC87-ACED-4CD5-9761-3FE7CC11EA38}"/>
                  </a:ext>
                </a:extLst>
              </p:cNvPr>
              <p:cNvSpPr/>
              <p:nvPr/>
            </p:nvSpPr>
            <p:spPr>
              <a:xfrm rot="10800000">
                <a:off x="2081481" y="5773701"/>
                <a:ext cx="926413" cy="180631"/>
              </a:xfrm>
              <a:prstGeom prst="arc">
                <a:avLst>
                  <a:gd name="adj1" fmla="val 10722632"/>
                  <a:gd name="adj2" fmla="val 0"/>
                </a:avLst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E0E878-7097-41C3-A719-C3EA2177AC0D}"/>
                </a:ext>
              </a:extLst>
            </p:cNvPr>
            <p:cNvSpPr txBox="1"/>
            <p:nvPr/>
          </p:nvSpPr>
          <p:spPr>
            <a:xfrm>
              <a:off x="1936750" y="4001294"/>
              <a:ext cx="1289050" cy="181530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indent="-457200" algn="ctr">
                <a:lnSpc>
                  <a:spcPct val="90000"/>
                </a:lnSpc>
                <a:spcBef>
                  <a:spcPts val="1000"/>
                </a:spcBef>
                <a:buSzPct val="100000"/>
                <a:defRPr>
                  <a:latin typeface="Calibri" panose="020F0502020204030204" pitchFamily="34" charset="0"/>
                </a:defRPr>
              </a:lvl1pPr>
              <a:lvl2pPr marL="228600" lvl="1" indent="-228600" algn="ctr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2pPr>
              <a:lvl3pPr marL="685800" lvl="2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3pPr>
              <a:lvl4pPr marL="1143000" lvl="3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4pPr>
              <a:lvl5pPr marL="1600200" lvl="4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5pPr>
              <a:lvl6pPr marL="2057400" lvl="5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6pPr>
              <a:lvl7pPr marL="2514600" lvl="6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7pPr>
              <a:lvl8pPr marL="2971800" lvl="7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8pPr>
              <a:lvl9pPr marL="3429000" lvl="8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9pPr>
            </a:lstStyle>
            <a:p>
              <a:pPr marL="0" lvl="1" indent="0">
                <a:buNone/>
              </a:pPr>
              <a:endParaRPr lang="en-US">
                <a:sym typeface="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C7A9A04-B1C6-400A-99B5-4D99D6247459}"/>
              </a:ext>
            </a:extLst>
          </p:cNvPr>
          <p:cNvSpPr txBox="1"/>
          <p:nvPr/>
        </p:nvSpPr>
        <p:spPr>
          <a:xfrm>
            <a:off x="2298032" y="3789947"/>
            <a:ext cx="854242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defRPr>
                <a:latin typeface="Calibri" panose="020F0502020204030204" pitchFamily="34" charset="0"/>
              </a:defRPr>
            </a:lvl1pPr>
            <a:lvl2pPr marL="228600" lvl="1" indent="-228600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2pPr>
            <a:lvl3pPr marL="685800" lvl="2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3pPr>
            <a:lvl4pPr marL="1143000" lvl="3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4pPr>
            <a:lvl5pPr marL="1600200" lvl="4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5pPr>
            <a:lvl6pPr marL="2057400" lvl="5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9pPr>
          </a:lstStyle>
          <a:p>
            <a:pPr marL="0" lvl="1" indent="0" algn="ctr">
              <a:buNone/>
            </a:pPr>
            <a:r>
              <a:rPr lang="en-US" dirty="0">
                <a:sym typeface=""/>
              </a:rPr>
              <a:t>Input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48B518-2E94-403A-967B-D34F144BC995}"/>
              </a:ext>
            </a:extLst>
          </p:cNvPr>
          <p:cNvCxnSpPr/>
          <p:nvPr/>
        </p:nvCxnSpPr>
        <p:spPr>
          <a:xfrm>
            <a:off x="4135772" y="5028532"/>
            <a:ext cx="74662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8371B565-79D6-4E6B-AE86-C558D7020BA0}"/>
              </a:ext>
            </a:extLst>
          </p:cNvPr>
          <p:cNvSpPr/>
          <p:nvPr/>
        </p:nvSpPr>
        <p:spPr>
          <a:xfrm>
            <a:off x="5794310" y="4270542"/>
            <a:ext cx="301690" cy="1553363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EE2E9-4726-4546-8985-D4C404A633FF}"/>
              </a:ext>
            </a:extLst>
          </p:cNvPr>
          <p:cNvSpPr txBox="1"/>
          <p:nvPr/>
        </p:nvSpPr>
        <p:spPr>
          <a:xfrm>
            <a:off x="6059926" y="4346577"/>
            <a:ext cx="60865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Overrepresentation analysis (ORA)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Functional class scoring methods (FCS)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Pathway topology-based methods (PT-based methods)</a:t>
            </a:r>
          </a:p>
        </p:txBody>
      </p:sp>
    </p:spTree>
    <p:extLst>
      <p:ext uri="{BB962C8B-B14F-4D97-AF65-F5344CB8AC3E}">
        <p14:creationId xmlns:p14="http://schemas.microsoft.com/office/powerpoint/2010/main" val="333917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E0A7-5451-4C76-AFBB-9CB7B4C0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49212-5A5A-4A6B-8D15-2E15741F8D6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3A5882-6911-431E-8B7F-A089F1B3F229}"/>
              </a:ext>
            </a:extLst>
          </p:cNvPr>
          <p:cNvSpPr txBox="1"/>
          <p:nvPr/>
        </p:nvSpPr>
        <p:spPr>
          <a:xfrm>
            <a:off x="1045029" y="1858805"/>
            <a:ext cx="7688424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Ranked list of gene statistics associated to gene IDs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FF450D-2DA5-4BC9-9029-8FF56C94914D}"/>
              </a:ext>
            </a:extLst>
          </p:cNvPr>
          <p:cNvSpPr txBox="1"/>
          <p:nvPr/>
        </p:nvSpPr>
        <p:spPr>
          <a:xfrm>
            <a:off x="3060441" y="3384409"/>
            <a:ext cx="2438400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Set of gene IDs</a:t>
            </a:r>
          </a:p>
        </p:txBody>
      </p:sp>
    </p:spTree>
    <p:extLst>
      <p:ext uri="{BB962C8B-B14F-4D97-AF65-F5344CB8AC3E}">
        <p14:creationId xmlns:p14="http://schemas.microsoft.com/office/powerpoint/2010/main" val="3276901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E0A7-5451-4C76-AFBB-9CB7B4C0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49212-5A5A-4A6B-8D15-2E15741F8D6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3A5882-6911-431E-8B7F-A089F1B3F229}"/>
              </a:ext>
            </a:extLst>
          </p:cNvPr>
          <p:cNvSpPr txBox="1"/>
          <p:nvPr/>
        </p:nvSpPr>
        <p:spPr>
          <a:xfrm>
            <a:off x="1045029" y="1858805"/>
            <a:ext cx="7688424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Ranked list of gene statistics associated to gene IDs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FF450D-2DA5-4BC9-9029-8FF56C94914D}"/>
              </a:ext>
            </a:extLst>
          </p:cNvPr>
          <p:cNvSpPr txBox="1"/>
          <p:nvPr/>
        </p:nvSpPr>
        <p:spPr>
          <a:xfrm>
            <a:off x="3060441" y="3384409"/>
            <a:ext cx="2438400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Set of gene IDs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480255-A423-4046-8D20-2D6F5F82019B}"/>
              </a:ext>
            </a:extLst>
          </p:cNvPr>
          <p:cNvCxnSpPr/>
          <p:nvPr/>
        </p:nvCxnSpPr>
        <p:spPr>
          <a:xfrm>
            <a:off x="8957387" y="2104576"/>
            <a:ext cx="671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A561F1-92E1-4490-9918-5D84DE79F03D}"/>
              </a:ext>
            </a:extLst>
          </p:cNvPr>
          <p:cNvSpPr txBox="1"/>
          <p:nvPr/>
        </p:nvSpPr>
        <p:spPr>
          <a:xfrm>
            <a:off x="9674289" y="1813999"/>
            <a:ext cx="2418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FCS</a:t>
            </a:r>
          </a:p>
          <a:p>
            <a:r>
              <a:rPr lang="en-US" dirty="0"/>
              <a:t>2) PT-based methods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3403D8-C215-4735-99B0-7DD140453698}"/>
              </a:ext>
            </a:extLst>
          </p:cNvPr>
          <p:cNvCxnSpPr/>
          <p:nvPr/>
        </p:nvCxnSpPr>
        <p:spPr>
          <a:xfrm>
            <a:off x="5783424" y="3611396"/>
            <a:ext cx="766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50725A9-C357-4442-9AAE-7055B239E270}"/>
              </a:ext>
            </a:extLst>
          </p:cNvPr>
          <p:cNvSpPr txBox="1"/>
          <p:nvPr/>
        </p:nvSpPr>
        <p:spPr>
          <a:xfrm>
            <a:off x="6693161" y="3313589"/>
            <a:ext cx="2183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ORA</a:t>
            </a:r>
          </a:p>
          <a:p>
            <a:r>
              <a:rPr lang="en-US" dirty="0"/>
              <a:t>2) PT-based methods</a:t>
            </a:r>
          </a:p>
        </p:txBody>
      </p:sp>
    </p:spTree>
    <p:extLst>
      <p:ext uri="{BB962C8B-B14F-4D97-AF65-F5344CB8AC3E}">
        <p14:creationId xmlns:p14="http://schemas.microsoft.com/office/powerpoint/2010/main" val="38503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E0A7-5451-4C76-AFBB-9CB7B4C0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49212-5A5A-4A6B-8D15-2E15741F8D6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70C695-F9D6-4378-B149-EC86B9905DDC}"/>
              </a:ext>
            </a:extLst>
          </p:cNvPr>
          <p:cNvCxnSpPr/>
          <p:nvPr/>
        </p:nvCxnSpPr>
        <p:spPr>
          <a:xfrm>
            <a:off x="4425820" y="2547257"/>
            <a:ext cx="0" cy="5784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3682489-1DE4-47A4-9178-293FCEBEEB50}"/>
              </a:ext>
            </a:extLst>
          </p:cNvPr>
          <p:cNvSpPr txBox="1"/>
          <p:nvPr/>
        </p:nvSpPr>
        <p:spPr>
          <a:xfrm>
            <a:off x="4599991" y="2651840"/>
            <a:ext cx="381622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Selection criteria (adjusted p-value)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3A5882-6911-431E-8B7F-A089F1B3F229}"/>
              </a:ext>
            </a:extLst>
          </p:cNvPr>
          <p:cNvSpPr txBox="1"/>
          <p:nvPr/>
        </p:nvSpPr>
        <p:spPr>
          <a:xfrm>
            <a:off x="1045029" y="1858805"/>
            <a:ext cx="7688424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Ranked list of gene statistics associated to gene IDs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FF450D-2DA5-4BC9-9029-8FF56C94914D}"/>
              </a:ext>
            </a:extLst>
          </p:cNvPr>
          <p:cNvSpPr txBox="1"/>
          <p:nvPr/>
        </p:nvSpPr>
        <p:spPr>
          <a:xfrm>
            <a:off x="3060441" y="3384409"/>
            <a:ext cx="2438400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Set of gene IDs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480255-A423-4046-8D20-2D6F5F82019B}"/>
              </a:ext>
            </a:extLst>
          </p:cNvPr>
          <p:cNvCxnSpPr/>
          <p:nvPr/>
        </p:nvCxnSpPr>
        <p:spPr>
          <a:xfrm>
            <a:off x="8957387" y="2104576"/>
            <a:ext cx="671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A561F1-92E1-4490-9918-5D84DE79F03D}"/>
              </a:ext>
            </a:extLst>
          </p:cNvPr>
          <p:cNvSpPr txBox="1"/>
          <p:nvPr/>
        </p:nvSpPr>
        <p:spPr>
          <a:xfrm>
            <a:off x="9674289" y="1813999"/>
            <a:ext cx="2418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FCS</a:t>
            </a:r>
          </a:p>
          <a:p>
            <a:r>
              <a:rPr lang="en-US" dirty="0"/>
              <a:t>2) PT-based methods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3403D8-C215-4735-99B0-7DD140453698}"/>
              </a:ext>
            </a:extLst>
          </p:cNvPr>
          <p:cNvCxnSpPr/>
          <p:nvPr/>
        </p:nvCxnSpPr>
        <p:spPr>
          <a:xfrm>
            <a:off x="5783424" y="3611396"/>
            <a:ext cx="766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50725A9-C357-4442-9AAE-7055B239E270}"/>
              </a:ext>
            </a:extLst>
          </p:cNvPr>
          <p:cNvSpPr txBox="1"/>
          <p:nvPr/>
        </p:nvSpPr>
        <p:spPr>
          <a:xfrm>
            <a:off x="6693161" y="3313589"/>
            <a:ext cx="2183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ORA</a:t>
            </a:r>
          </a:p>
          <a:p>
            <a:r>
              <a:rPr lang="en-US" dirty="0"/>
              <a:t>2) PT-based methods</a:t>
            </a:r>
          </a:p>
        </p:txBody>
      </p:sp>
    </p:spTree>
    <p:extLst>
      <p:ext uri="{BB962C8B-B14F-4D97-AF65-F5344CB8AC3E}">
        <p14:creationId xmlns:p14="http://schemas.microsoft.com/office/powerpoint/2010/main" val="265955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E0A7-5451-4C76-AFBB-9CB7B4C0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49212-5A5A-4A6B-8D15-2E15741F8D6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**ATTENTION: Gene name conventions!! (</a:t>
            </a:r>
            <a:r>
              <a:rPr lang="en-US" dirty="0" err="1"/>
              <a:t>RefSeq</a:t>
            </a:r>
            <a:r>
              <a:rPr lang="en-US" dirty="0"/>
              <a:t>/GENECODE versions)</a:t>
            </a:r>
          </a:p>
          <a:p>
            <a:pPr marL="0" indent="0">
              <a:buNone/>
            </a:pPr>
            <a:r>
              <a:rPr lang="en-US" dirty="0"/>
              <a:t>**Filtering has a significant effect on results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70C695-F9D6-4378-B149-EC86B9905DDC}"/>
              </a:ext>
            </a:extLst>
          </p:cNvPr>
          <p:cNvCxnSpPr/>
          <p:nvPr/>
        </p:nvCxnSpPr>
        <p:spPr>
          <a:xfrm>
            <a:off x="4425820" y="2547257"/>
            <a:ext cx="0" cy="5784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3682489-1DE4-47A4-9178-293FCEBEEB50}"/>
              </a:ext>
            </a:extLst>
          </p:cNvPr>
          <p:cNvSpPr txBox="1"/>
          <p:nvPr/>
        </p:nvSpPr>
        <p:spPr>
          <a:xfrm>
            <a:off x="4599991" y="2651840"/>
            <a:ext cx="381622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Selection criteria (adjusted p-value)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3A5882-6911-431E-8B7F-A089F1B3F229}"/>
              </a:ext>
            </a:extLst>
          </p:cNvPr>
          <p:cNvSpPr txBox="1"/>
          <p:nvPr/>
        </p:nvSpPr>
        <p:spPr>
          <a:xfrm>
            <a:off x="1045029" y="1858805"/>
            <a:ext cx="7688424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Ranked list of gene statistics associated to gene IDs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FF450D-2DA5-4BC9-9029-8FF56C94914D}"/>
              </a:ext>
            </a:extLst>
          </p:cNvPr>
          <p:cNvSpPr txBox="1"/>
          <p:nvPr/>
        </p:nvSpPr>
        <p:spPr>
          <a:xfrm>
            <a:off x="3060441" y="3384409"/>
            <a:ext cx="2438400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Set of gene IDs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480255-A423-4046-8D20-2D6F5F82019B}"/>
              </a:ext>
            </a:extLst>
          </p:cNvPr>
          <p:cNvCxnSpPr/>
          <p:nvPr/>
        </p:nvCxnSpPr>
        <p:spPr>
          <a:xfrm>
            <a:off x="8957387" y="2104576"/>
            <a:ext cx="671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A561F1-92E1-4490-9918-5D84DE79F03D}"/>
              </a:ext>
            </a:extLst>
          </p:cNvPr>
          <p:cNvSpPr txBox="1"/>
          <p:nvPr/>
        </p:nvSpPr>
        <p:spPr>
          <a:xfrm>
            <a:off x="9674289" y="1813999"/>
            <a:ext cx="2418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FCS</a:t>
            </a:r>
          </a:p>
          <a:p>
            <a:r>
              <a:rPr lang="en-US" dirty="0"/>
              <a:t>2) PT-based methods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3403D8-C215-4735-99B0-7DD140453698}"/>
              </a:ext>
            </a:extLst>
          </p:cNvPr>
          <p:cNvCxnSpPr/>
          <p:nvPr/>
        </p:nvCxnSpPr>
        <p:spPr>
          <a:xfrm>
            <a:off x="5783424" y="3611396"/>
            <a:ext cx="766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50725A9-C357-4442-9AAE-7055B239E270}"/>
              </a:ext>
            </a:extLst>
          </p:cNvPr>
          <p:cNvSpPr txBox="1"/>
          <p:nvPr/>
        </p:nvSpPr>
        <p:spPr>
          <a:xfrm>
            <a:off x="6693161" y="3313589"/>
            <a:ext cx="2183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ORA</a:t>
            </a:r>
          </a:p>
          <a:p>
            <a:r>
              <a:rPr lang="en-US" dirty="0"/>
              <a:t>2) PT-based methods</a:t>
            </a:r>
          </a:p>
        </p:txBody>
      </p:sp>
    </p:spTree>
    <p:extLst>
      <p:ext uri="{BB962C8B-B14F-4D97-AF65-F5344CB8AC3E}">
        <p14:creationId xmlns:p14="http://schemas.microsoft.com/office/powerpoint/2010/main" val="4688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B7477-B2C1-436A-872D-59030738B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d</a:t>
            </a:r>
            <a:r>
              <a:rPr lang="en-US" noProof="0" dirty="0" err="1"/>
              <a:t>atabases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D690C-9228-4E9D-A38B-4BBC074EA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Structured compendium of prior knowledge: Gene categorization</a:t>
            </a:r>
          </a:p>
          <a:p>
            <a:r>
              <a:rPr lang="en-US" dirty="0"/>
              <a:t>Capture different type of information:</a:t>
            </a:r>
          </a:p>
          <a:p>
            <a:pPr lvl="1"/>
            <a:r>
              <a:rPr lang="en-US" dirty="0"/>
              <a:t>Ontologies: Function, structure, localization,…</a:t>
            </a:r>
          </a:p>
          <a:p>
            <a:pPr lvl="1"/>
            <a:r>
              <a:rPr lang="en-US" dirty="0"/>
              <a:t>Pathways</a:t>
            </a:r>
          </a:p>
          <a:p>
            <a:pPr lvl="1"/>
            <a:r>
              <a:rPr lang="en-US" dirty="0"/>
              <a:t>Regulation</a:t>
            </a:r>
          </a:p>
          <a:p>
            <a:pPr lvl="1"/>
            <a:r>
              <a:rPr lang="en-US" dirty="0"/>
              <a:t>Perturbation experiments</a:t>
            </a:r>
          </a:p>
          <a:p>
            <a:pPr lvl="1"/>
            <a:r>
              <a:rPr lang="en-US" dirty="0"/>
              <a:t>Protein-protein interactions</a:t>
            </a:r>
          </a:p>
          <a:p>
            <a:r>
              <a:rPr lang="en-US" dirty="0"/>
              <a:t>Continuous update and reannotation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** Election based on study purpose</a:t>
            </a:r>
          </a:p>
        </p:txBody>
      </p:sp>
    </p:spTree>
    <p:extLst>
      <p:ext uri="{BB962C8B-B14F-4D97-AF65-F5344CB8AC3E}">
        <p14:creationId xmlns:p14="http://schemas.microsoft.com/office/powerpoint/2010/main" val="3411525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5362C-C584-4489-A2C9-9B4869C6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Broad Molecular Signatures Database (</a:t>
            </a:r>
            <a:r>
              <a:rPr lang="en-US" sz="4000" dirty="0" err="1"/>
              <a:t>MSigDB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DCEC-FEA8-4A9E-B9C9-F300A5980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H: Hallmark gene sets</a:t>
            </a:r>
          </a:p>
          <a:p>
            <a:pPr marL="457200" lvl="1" indent="0">
              <a:buNone/>
            </a:pPr>
            <a:r>
              <a:rPr lang="en-US" dirty="0"/>
              <a:t>- Specific, highly curated (few genes)</a:t>
            </a:r>
          </a:p>
          <a:p>
            <a:pPr marL="457200" lvl="1" indent="0">
              <a:buNone/>
            </a:pPr>
            <a:r>
              <a:rPr lang="en-US" dirty="0"/>
              <a:t>- Computationally defined</a:t>
            </a:r>
          </a:p>
          <a:p>
            <a:r>
              <a:rPr lang="en-US" dirty="0"/>
              <a:t>C1: positional gene sets</a:t>
            </a:r>
          </a:p>
          <a:p>
            <a:pPr marL="457200" lvl="1" indent="0">
              <a:buNone/>
            </a:pPr>
            <a:r>
              <a:rPr lang="en-US" dirty="0"/>
              <a:t>- Based on each cytogenetic band</a:t>
            </a:r>
          </a:p>
          <a:p>
            <a:r>
              <a:rPr lang="en-US" dirty="0"/>
              <a:t>C2: curated gene sets</a:t>
            </a:r>
          </a:p>
          <a:p>
            <a:pPr lvl="1"/>
            <a:r>
              <a:rPr lang="en-US" dirty="0"/>
              <a:t>Chemical-genetic perturbations (CGP)</a:t>
            </a:r>
          </a:p>
          <a:p>
            <a:pPr lvl="1"/>
            <a:r>
              <a:rPr lang="en-US" dirty="0"/>
              <a:t>Canonical pathways (CP)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KEGG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REACTOME</a:t>
            </a:r>
          </a:p>
          <a:p>
            <a:pPr lvl="2"/>
            <a:r>
              <a:rPr lang="en-US" dirty="0"/>
              <a:t>BIOCARTA</a:t>
            </a:r>
          </a:p>
          <a:p>
            <a:pPr lvl="2"/>
            <a:r>
              <a:rPr lang="en-US" dirty="0"/>
              <a:t>PID</a:t>
            </a:r>
          </a:p>
          <a:p>
            <a:pPr lvl="2"/>
            <a:r>
              <a:rPr lang="en-US" dirty="0" err="1"/>
              <a:t>Wikipathways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8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5362C-C584-4489-A2C9-9B4869C6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Broad Molecular Signatures Database (</a:t>
            </a:r>
            <a:r>
              <a:rPr lang="en-US" sz="4000" dirty="0" err="1"/>
              <a:t>MSigDB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DCEC-FEA8-4A9E-B9C9-F300A5980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C3: regulatory target gene sets</a:t>
            </a:r>
          </a:p>
          <a:p>
            <a:pPr lvl="1"/>
            <a:r>
              <a:rPr lang="en-GB" dirty="0" err="1"/>
              <a:t>miRDB</a:t>
            </a:r>
            <a:r>
              <a:rPr lang="en-GB" dirty="0"/>
              <a:t> subset of MIR (</a:t>
            </a:r>
            <a:r>
              <a:rPr lang="en-GB" dirty="0" err="1"/>
              <a:t>miRDB</a:t>
            </a:r>
            <a:r>
              <a:rPr lang="en-GB" dirty="0"/>
              <a:t> v6.0 algorithm)</a:t>
            </a:r>
          </a:p>
          <a:p>
            <a:pPr lvl="1"/>
            <a:r>
              <a:rPr lang="en-GB" dirty="0" err="1"/>
              <a:t>MIR_Legacy</a:t>
            </a:r>
            <a:r>
              <a:rPr lang="en-GB" dirty="0"/>
              <a:t> subset of MIR (older, putative target sites)</a:t>
            </a:r>
          </a:p>
          <a:p>
            <a:pPr lvl="1"/>
            <a:r>
              <a:rPr lang="en-GB" dirty="0"/>
              <a:t>GTRD subset of TFT (based on TFBS signatures)</a:t>
            </a:r>
          </a:p>
          <a:p>
            <a:pPr lvl="1"/>
            <a:r>
              <a:rPr lang="en-GB" dirty="0" err="1"/>
              <a:t>TFT_Legacy</a:t>
            </a:r>
            <a:r>
              <a:rPr lang="en-GB" dirty="0"/>
              <a:t> subset of TFT (older predictions)</a:t>
            </a:r>
          </a:p>
          <a:p>
            <a:pPr lvl="1"/>
            <a:endParaRPr lang="en-GB" dirty="0"/>
          </a:p>
          <a:p>
            <a:r>
              <a:rPr lang="en-GB" dirty="0"/>
              <a:t>C4: computational gene sets</a:t>
            </a:r>
          </a:p>
          <a:p>
            <a:pPr lvl="1"/>
            <a:r>
              <a:rPr lang="en-GB" dirty="0"/>
              <a:t>CGN: cancer gene neighbourhoods</a:t>
            </a:r>
          </a:p>
          <a:p>
            <a:pPr lvl="1"/>
            <a:r>
              <a:rPr lang="en-GB" dirty="0"/>
              <a:t>CM: cancer modules</a:t>
            </a:r>
          </a:p>
          <a:p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594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5362C-C584-4489-A2C9-9B4869C6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Broad Molecular Signatures Database (</a:t>
            </a:r>
            <a:r>
              <a:rPr lang="en-US" sz="4000" dirty="0" err="1"/>
              <a:t>MSigDB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DCEC-FEA8-4A9E-B9C9-F300A5980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C5: ontology gene sets</a:t>
            </a:r>
          </a:p>
          <a:p>
            <a:pPr lvl="1"/>
            <a:r>
              <a:rPr lang="en-US" dirty="0"/>
              <a:t>GO:BP – Gene Ontology Biological Process</a:t>
            </a:r>
          </a:p>
          <a:p>
            <a:pPr lvl="1"/>
            <a:r>
              <a:rPr lang="en-US" dirty="0"/>
              <a:t>GO:MF – Gene Ontology Molecular Function</a:t>
            </a:r>
          </a:p>
          <a:p>
            <a:pPr lvl="1"/>
            <a:r>
              <a:rPr lang="en-US" dirty="0"/>
              <a:t>GO:CC – Gene Ontology Cellular Component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-Hierarchical organization (parent-child)</a:t>
            </a:r>
          </a:p>
          <a:p>
            <a:pPr marL="0" indent="0">
              <a:buNone/>
            </a:pPr>
            <a:r>
              <a:rPr lang="en-US" dirty="0"/>
              <a:t>-Highly dependent on prior research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2050" name="Picture 2" descr="Nature Reviews Cancer 7, 23-34 (January 2007)">
            <a:extLst>
              <a:ext uri="{FF2B5EF4-FFF2-40B4-BE49-F238E27FC236}">
                <a16:creationId xmlns:a16="http://schemas.microsoft.com/office/drawing/2014/main" id="{EA7F189D-0C70-4C6B-BD22-281D94481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489" y="2257425"/>
            <a:ext cx="4566386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05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5362C-C584-4489-A2C9-9B4869C6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Broad Molecular Signatures Database (</a:t>
            </a:r>
            <a:r>
              <a:rPr lang="en-US" sz="4000" dirty="0" err="1"/>
              <a:t>MSigDB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DCEC-FEA8-4A9E-B9C9-F300A5980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C6: oncogenic signature gene sets (experimental data)</a:t>
            </a:r>
          </a:p>
          <a:p>
            <a:endParaRPr lang="it-IT" dirty="0"/>
          </a:p>
          <a:p>
            <a:r>
              <a:rPr lang="it-IT" dirty="0"/>
              <a:t>C7: immunologic signature gene sets</a:t>
            </a:r>
          </a:p>
          <a:p>
            <a:pPr lvl="1"/>
            <a:r>
              <a:rPr lang="en-US" dirty="0" err="1"/>
              <a:t>ImmuneSigDB</a:t>
            </a:r>
            <a:r>
              <a:rPr lang="en-US" dirty="0"/>
              <a:t> subset of C7 (Chemical/genetic perturbations of the immune system)</a:t>
            </a:r>
          </a:p>
          <a:p>
            <a:pPr lvl="1"/>
            <a:r>
              <a:rPr lang="it-IT" dirty="0"/>
              <a:t>VAX: vaccine reponse gene sets (</a:t>
            </a:r>
            <a:r>
              <a:rPr lang="en-GB" dirty="0"/>
              <a:t>Human Immunology Project Consortium, HIPC, human transcriptomic immune response to vaccination)</a:t>
            </a:r>
          </a:p>
          <a:p>
            <a:pPr lvl="1"/>
            <a:endParaRPr lang="en-US" dirty="0"/>
          </a:p>
          <a:p>
            <a:r>
              <a:rPr lang="en-US" dirty="0"/>
              <a:t>C8: cell type signature gene sets (based on single-cell data)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6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4F63-9318-4A97-B515-5C5CD66B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selection criteria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A0515-99AE-408A-BD60-69C3B5D01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Biological aspects captured by the database</a:t>
            </a:r>
          </a:p>
          <a:p>
            <a:r>
              <a:rPr lang="en-US" dirty="0"/>
              <a:t>Update frequency</a:t>
            </a:r>
          </a:p>
          <a:p>
            <a:r>
              <a:rPr lang="en-US" dirty="0"/>
              <a:t>Degree of redundancy and overlap</a:t>
            </a:r>
          </a:p>
          <a:p>
            <a:pPr lvl="1"/>
            <a:r>
              <a:rPr lang="en-US" dirty="0"/>
              <a:t>Genes are commonly not exclusive (one same gene in many sets) – PADOG</a:t>
            </a:r>
          </a:p>
          <a:p>
            <a:pPr lvl="1"/>
            <a:r>
              <a:rPr lang="en-US" dirty="0"/>
              <a:t>Number of gene sets – Affect multiple correction methods</a:t>
            </a:r>
          </a:p>
          <a:p>
            <a:r>
              <a:rPr lang="en-US" dirty="0"/>
              <a:t>Size of the gene 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37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3A96-19AD-47D9-B585-C6B907A15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22C81-D743-4E3C-8C8E-DF28C8ABE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8CD7DB0D-EFE3-4B26-AF0F-827B90E22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133350"/>
            <a:ext cx="8495717" cy="621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CF6FBC-8885-4656-90D8-4FB51F964744}"/>
              </a:ext>
            </a:extLst>
          </p:cNvPr>
          <p:cNvSpPr txBox="1"/>
          <p:nvPr/>
        </p:nvSpPr>
        <p:spPr>
          <a:xfrm>
            <a:off x="293615" y="6451134"/>
            <a:ext cx="11551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0" i="0" dirty="0">
                <a:solidFill>
                  <a:srgbClr val="222222"/>
                </a:solidFill>
                <a:effectLst/>
                <a:latin typeface="-apple-system"/>
              </a:rPr>
              <a:t>Wadi, L., Meyer, M., Weiser, J. </a:t>
            </a:r>
            <a:r>
              <a:rPr lang="en-GB" sz="1200" b="0" i="1" dirty="0">
                <a:solidFill>
                  <a:srgbClr val="222222"/>
                </a:solidFill>
                <a:effectLst/>
                <a:latin typeface="-apple-system"/>
              </a:rPr>
              <a:t>et al.</a:t>
            </a:r>
            <a:r>
              <a:rPr lang="en-GB" sz="1200" b="0" i="0" dirty="0">
                <a:solidFill>
                  <a:srgbClr val="222222"/>
                </a:solidFill>
                <a:effectLst/>
                <a:latin typeface="-apple-system"/>
              </a:rPr>
              <a:t> Impact of outdated gene annotations on pathway enrichment analysis. </a:t>
            </a:r>
            <a:r>
              <a:rPr lang="en-GB" sz="1200" b="0" i="1" dirty="0">
                <a:solidFill>
                  <a:srgbClr val="222222"/>
                </a:solidFill>
                <a:effectLst/>
                <a:latin typeface="-apple-system"/>
              </a:rPr>
              <a:t>Nat Methods</a:t>
            </a:r>
            <a:r>
              <a:rPr lang="en-GB" sz="1200" b="0" i="0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GB" sz="1200" b="1" i="0" dirty="0">
                <a:solidFill>
                  <a:srgbClr val="222222"/>
                </a:solidFill>
                <a:effectLst/>
                <a:latin typeface="-apple-system"/>
              </a:rPr>
              <a:t>13, </a:t>
            </a:r>
            <a:r>
              <a:rPr lang="en-GB" sz="1200" b="0" i="0" dirty="0">
                <a:solidFill>
                  <a:srgbClr val="222222"/>
                </a:solidFill>
                <a:effectLst/>
                <a:latin typeface="-apple-system"/>
              </a:rPr>
              <a:t>705–706 (2016). https://doi.org/10.1038/nmeth.3963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83473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D395-4DEA-4ED9-AE8C-FADCF514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analysis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1A55B3C-3974-4060-A923-B1B177DDB7AC}"/>
              </a:ext>
            </a:extLst>
          </p:cNvPr>
          <p:cNvGrpSpPr/>
          <p:nvPr/>
        </p:nvGrpSpPr>
        <p:grpSpPr>
          <a:xfrm>
            <a:off x="1539551" y="2351315"/>
            <a:ext cx="1803557" cy="3621027"/>
            <a:chOff x="1936750" y="4001294"/>
            <a:chExt cx="1289050" cy="181530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503D4FD-CA51-4CC3-A741-0716592DB5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5562" y="4114800"/>
              <a:ext cx="1061053" cy="757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53FAB68-01DA-4B19-BF54-EF8DCFE8B5A4}"/>
                </a:ext>
              </a:extLst>
            </p:cNvPr>
            <p:cNvGrpSpPr/>
            <p:nvPr/>
          </p:nvGrpSpPr>
          <p:grpSpPr>
            <a:xfrm>
              <a:off x="2152871" y="5007727"/>
              <a:ext cx="926434" cy="660436"/>
              <a:chOff x="2081461" y="5293896"/>
              <a:chExt cx="926434" cy="660436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143668A-2154-4400-96B4-F38D8182FA88}"/>
                  </a:ext>
                </a:extLst>
              </p:cNvPr>
              <p:cNvSpPr/>
              <p:nvPr/>
            </p:nvSpPr>
            <p:spPr>
              <a:xfrm>
                <a:off x="2081463" y="5293896"/>
                <a:ext cx="926432" cy="18063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2C7D3F6-5F9F-4933-A3EF-43703024FCFD}"/>
                  </a:ext>
                </a:extLst>
              </p:cNvPr>
              <p:cNvCxnSpPr>
                <a:stCxn id="7" idx="2"/>
              </p:cNvCxnSpPr>
              <p:nvPr/>
            </p:nvCxnSpPr>
            <p:spPr>
              <a:xfrm>
                <a:off x="2081463" y="5384211"/>
                <a:ext cx="0" cy="50595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A99004C-133B-4450-B042-6D09E8E61607}"/>
                  </a:ext>
                </a:extLst>
              </p:cNvPr>
              <p:cNvCxnSpPr/>
              <p:nvPr/>
            </p:nvCxnSpPr>
            <p:spPr>
              <a:xfrm>
                <a:off x="3007895" y="5384211"/>
                <a:ext cx="0" cy="50595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F181AD-0DA8-4FF4-8CB1-5BB8FFD50CCF}"/>
                  </a:ext>
                </a:extLst>
              </p:cNvPr>
              <p:cNvSpPr txBox="1"/>
              <p:nvPr/>
            </p:nvSpPr>
            <p:spPr>
              <a:xfrm>
                <a:off x="2081461" y="5528455"/>
                <a:ext cx="9264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Database</a:t>
                </a: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D0C4EC87-ACED-4CD5-9761-3FE7CC11EA38}"/>
                  </a:ext>
                </a:extLst>
              </p:cNvPr>
              <p:cNvSpPr/>
              <p:nvPr/>
            </p:nvSpPr>
            <p:spPr>
              <a:xfrm rot="10800000">
                <a:off x="2081481" y="5773701"/>
                <a:ext cx="926413" cy="180631"/>
              </a:xfrm>
              <a:prstGeom prst="arc">
                <a:avLst>
                  <a:gd name="adj1" fmla="val 10722632"/>
                  <a:gd name="adj2" fmla="val 0"/>
                </a:avLst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E0E878-7097-41C3-A719-C3EA2177AC0D}"/>
                </a:ext>
              </a:extLst>
            </p:cNvPr>
            <p:cNvSpPr txBox="1"/>
            <p:nvPr/>
          </p:nvSpPr>
          <p:spPr>
            <a:xfrm>
              <a:off x="1936750" y="4001294"/>
              <a:ext cx="1289050" cy="181530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indent="-457200" algn="ctr">
                <a:lnSpc>
                  <a:spcPct val="90000"/>
                </a:lnSpc>
                <a:spcBef>
                  <a:spcPts val="1000"/>
                </a:spcBef>
                <a:buSzPct val="100000"/>
                <a:defRPr>
                  <a:latin typeface="Calibri" panose="020F0502020204030204" pitchFamily="34" charset="0"/>
                </a:defRPr>
              </a:lvl1pPr>
              <a:lvl2pPr marL="228600" lvl="1" indent="-228600" algn="ctr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2pPr>
              <a:lvl3pPr marL="685800" lvl="2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3pPr>
              <a:lvl4pPr marL="1143000" lvl="3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4pPr>
              <a:lvl5pPr marL="1600200" lvl="4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5pPr>
              <a:lvl6pPr marL="2057400" lvl="5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6pPr>
              <a:lvl7pPr marL="2514600" lvl="6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7pPr>
              <a:lvl8pPr marL="2971800" lvl="7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8pPr>
              <a:lvl9pPr marL="3429000" lvl="8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9pPr>
            </a:lstStyle>
            <a:p>
              <a:pPr marL="0" lvl="1" indent="0">
                <a:buNone/>
              </a:pPr>
              <a:endParaRPr lang="en-US">
                <a:sym typeface="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C7A9A04-B1C6-400A-99B5-4D99D6247459}"/>
              </a:ext>
            </a:extLst>
          </p:cNvPr>
          <p:cNvSpPr txBox="1"/>
          <p:nvPr/>
        </p:nvSpPr>
        <p:spPr>
          <a:xfrm>
            <a:off x="1926280" y="1995219"/>
            <a:ext cx="854242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defRPr>
                <a:latin typeface="Calibri" panose="020F0502020204030204" pitchFamily="34" charset="0"/>
              </a:defRPr>
            </a:lvl1pPr>
            <a:lvl2pPr marL="228600" lvl="1" indent="-228600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2pPr>
            <a:lvl3pPr marL="685800" lvl="2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3pPr>
            <a:lvl4pPr marL="1143000" lvl="3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4pPr>
            <a:lvl5pPr marL="1600200" lvl="4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5pPr>
            <a:lvl6pPr marL="2057400" lvl="5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9pPr>
          </a:lstStyle>
          <a:p>
            <a:pPr marL="0" lvl="1" indent="0" algn="ctr">
              <a:buNone/>
            </a:pPr>
            <a:r>
              <a:rPr lang="en-US" dirty="0">
                <a:sym typeface=""/>
              </a:rPr>
              <a:t>Input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48B518-2E94-403A-967B-D34F144BC995}"/>
              </a:ext>
            </a:extLst>
          </p:cNvPr>
          <p:cNvCxnSpPr/>
          <p:nvPr/>
        </p:nvCxnSpPr>
        <p:spPr>
          <a:xfrm>
            <a:off x="4079789" y="3974173"/>
            <a:ext cx="74662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8371B565-79D6-4E6B-AE86-C558D7020BA0}"/>
              </a:ext>
            </a:extLst>
          </p:cNvPr>
          <p:cNvSpPr/>
          <p:nvPr/>
        </p:nvSpPr>
        <p:spPr>
          <a:xfrm>
            <a:off x="5261401" y="3197491"/>
            <a:ext cx="301690" cy="1553363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EE2E9-4726-4546-8985-D4C404A633FF}"/>
              </a:ext>
            </a:extLst>
          </p:cNvPr>
          <p:cNvSpPr txBox="1"/>
          <p:nvPr/>
        </p:nvSpPr>
        <p:spPr>
          <a:xfrm>
            <a:off x="5412246" y="3293658"/>
            <a:ext cx="60865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Overrepresentation analysis (ORA)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Functional class scoring methods (FCS)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Pathway topology-based methods (PT-based methods)</a:t>
            </a:r>
          </a:p>
        </p:txBody>
      </p:sp>
    </p:spTree>
    <p:extLst>
      <p:ext uri="{BB962C8B-B14F-4D97-AF65-F5344CB8AC3E}">
        <p14:creationId xmlns:p14="http://schemas.microsoft.com/office/powerpoint/2010/main" val="2839306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E472-32CF-445B-95D8-282E9421A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Overrepresentation analysis (ORA)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4CF91-B5A6-4C60-9ED7-801BEDF06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Applied to gene lists (DEGs, coregulated gene clusters,…)</a:t>
            </a:r>
          </a:p>
          <a:p>
            <a:r>
              <a:rPr lang="en-US" dirty="0"/>
              <a:t>Mathematical foundations: Fisher’s exact test (Hypergeometric test)</a:t>
            </a:r>
          </a:p>
          <a:p>
            <a:pPr marL="457200" lvl="1" indent="0">
              <a:buNone/>
            </a:pPr>
            <a:r>
              <a:rPr lang="en-US" dirty="0"/>
              <a:t>- Are there significantly more genes of a given gene set in my selected list than the ones expected by chance?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1D12083-2BF3-4189-9E57-338C9279F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943063"/>
              </p:ext>
            </p:extLst>
          </p:nvPr>
        </p:nvGraphicFramePr>
        <p:xfrm>
          <a:off x="1539551" y="3826760"/>
          <a:ext cx="8602825" cy="1121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325">
                  <a:extLst>
                    <a:ext uri="{9D8B030D-6E8A-4147-A177-3AD203B41FA5}">
                      <a16:colId xmlns:a16="http://schemas.microsoft.com/office/drawing/2014/main" val="781637603"/>
                    </a:ext>
                  </a:extLst>
                </a:gridCol>
                <a:gridCol w="2053872">
                  <a:extLst>
                    <a:ext uri="{9D8B030D-6E8A-4147-A177-3AD203B41FA5}">
                      <a16:colId xmlns:a16="http://schemas.microsoft.com/office/drawing/2014/main" val="1209034685"/>
                    </a:ext>
                  </a:extLst>
                </a:gridCol>
                <a:gridCol w="2880628">
                  <a:extLst>
                    <a:ext uri="{9D8B030D-6E8A-4147-A177-3AD203B41FA5}">
                      <a16:colId xmlns:a16="http://schemas.microsoft.com/office/drawing/2014/main" val="1909543499"/>
                    </a:ext>
                  </a:extLst>
                </a:gridCol>
              </a:tblGrid>
              <a:tr h="27578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Genes in the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Genes in the background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872622"/>
                  </a:ext>
                </a:extLst>
              </a:tr>
              <a:tr h="2757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That belong to the gene set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588755"/>
                  </a:ext>
                </a:extLst>
              </a:tr>
              <a:tr h="38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That do not belong to the gene set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N-n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4181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BE2593-949A-4A24-96BF-4EC8B4486F67}"/>
              </a:ext>
            </a:extLst>
          </p:cNvPr>
          <p:cNvSpPr txBox="1"/>
          <p:nvPr/>
        </p:nvSpPr>
        <p:spPr>
          <a:xfrm>
            <a:off x="4292082" y="5292546"/>
            <a:ext cx="4590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N: Background genes</a:t>
            </a:r>
          </a:p>
          <a:p>
            <a:r>
              <a:rPr lang="en-US" dirty="0"/>
              <a:t>K: Gene list</a:t>
            </a:r>
          </a:p>
          <a:p>
            <a:r>
              <a:rPr lang="en-US" dirty="0"/>
              <a:t>k: genes of the gene set in gene list K</a:t>
            </a:r>
          </a:p>
          <a:p>
            <a:r>
              <a:rPr lang="en-US" dirty="0"/>
              <a:t>n: genes of the gene set in the background N</a:t>
            </a:r>
          </a:p>
        </p:txBody>
      </p:sp>
    </p:spTree>
    <p:extLst>
      <p:ext uri="{BB962C8B-B14F-4D97-AF65-F5344CB8AC3E}">
        <p14:creationId xmlns:p14="http://schemas.microsoft.com/office/powerpoint/2010/main" val="3198131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E472-32CF-445B-95D8-282E9421A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Overrepresentation analysis (ORA)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4CF91-B5A6-4C60-9ED7-801BEDF061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Applied to gene lists (DEGs, coregulated gene clusters,…)</a:t>
                </a:r>
              </a:p>
              <a:p>
                <a:r>
                  <a:rPr lang="en-US" dirty="0"/>
                  <a:t>Mathematical foundations: Fisher’s exact test (Hypergeometric test)</a:t>
                </a:r>
              </a:p>
              <a:p>
                <a:pPr marL="457200" lvl="1" indent="0">
                  <a:buNone/>
                </a:pPr>
                <a:r>
                  <a:rPr lang="en-US" dirty="0"/>
                  <a:t>- Are there significantly more genes of a given gene set in my selected list than the ones expected by chance?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noBar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f>
                            <m:fPr>
                              <m:type m:val="noBar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noBar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4CF91-B5A6-4C60-9ED7-801BEDF061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1A0AAFE-A7D3-48AF-994E-034BCF0FE461}"/>
              </a:ext>
            </a:extLst>
          </p:cNvPr>
          <p:cNvSpPr txBox="1"/>
          <p:nvPr/>
        </p:nvSpPr>
        <p:spPr>
          <a:xfrm>
            <a:off x="4292082" y="5292546"/>
            <a:ext cx="4590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N: Background genes</a:t>
            </a:r>
          </a:p>
          <a:p>
            <a:r>
              <a:rPr lang="en-US" dirty="0"/>
              <a:t>K: Gene list</a:t>
            </a:r>
          </a:p>
          <a:p>
            <a:r>
              <a:rPr lang="en-US" dirty="0"/>
              <a:t>k: genes of the gene set in gene list K</a:t>
            </a:r>
          </a:p>
          <a:p>
            <a:r>
              <a:rPr lang="en-US" dirty="0"/>
              <a:t>n: genes of the gene set in the background N</a:t>
            </a:r>
          </a:p>
        </p:txBody>
      </p:sp>
    </p:spTree>
    <p:extLst>
      <p:ext uri="{BB962C8B-B14F-4D97-AF65-F5344CB8AC3E}">
        <p14:creationId xmlns:p14="http://schemas.microsoft.com/office/powerpoint/2010/main" val="3267111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E472-32CF-445B-95D8-282E9421A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Overrepresentation analysis (ORA)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4CF91-B5A6-4C60-9ED7-801BEDF061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= 1 -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=1 − </m:t>
                        </m:r>
                        <m:nary>
                          <m:naryPr>
                            <m:chr m:val="∑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func>
                              <m:func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s-ES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func>
                          </m:e>
                        </m:nary>
                      </m:e>
                    </m:func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noBar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f>
                            <m:fPr>
                              <m:type m:val="noBar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noBar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** Can be approximated by the χ</a:t>
                </a:r>
                <a:r>
                  <a:rPr lang="en-GB" baseline="30000" dirty="0"/>
                  <a:t>2</a:t>
                </a:r>
                <a:r>
                  <a:rPr lang="en-GB" dirty="0"/>
                  <a:t> test for large enough values of k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4CF91-B5A6-4C60-9ED7-801BEDF061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177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0D7D-6601-4AF7-8AB1-4D90A2A9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testing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4DD1C-9B83-478B-B251-18CA99E66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Bonferroni: Dividing by the number of tests</a:t>
            </a:r>
          </a:p>
          <a:p>
            <a:r>
              <a:rPr lang="en-US" dirty="0" err="1"/>
              <a:t>Benjamini</a:t>
            </a:r>
            <a:r>
              <a:rPr lang="en-US" dirty="0"/>
              <a:t>-Hochberg (FDR)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C3F06E-EBAC-4EF8-B259-6FA3BD112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348" y="3121447"/>
            <a:ext cx="5846687" cy="305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9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DA909-CF36-4B10-9268-11340CD3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Overrepresentation analysis (ORA)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0D09A-C854-46B5-B752-78BA94CDB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consider positions of directions of genes in pathways</a:t>
            </a:r>
          </a:p>
          <a:p>
            <a:r>
              <a:rPr lang="en-GB" dirty="0"/>
              <a:t>Fisher’s exact test, χ</a:t>
            </a:r>
            <a:r>
              <a:rPr lang="en-GB" baseline="30000" dirty="0"/>
              <a:t>2</a:t>
            </a:r>
            <a:r>
              <a:rPr lang="en-GB" dirty="0"/>
              <a:t> test, hypergeometric test</a:t>
            </a:r>
          </a:p>
          <a:p>
            <a:r>
              <a:rPr lang="en-GB" dirty="0"/>
              <a:t>Assumes genes are independent</a:t>
            </a:r>
          </a:p>
          <a:p>
            <a:r>
              <a:rPr lang="en-GB" dirty="0"/>
              <a:t>Threshold required (small changes may not be detected)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DAVID</a:t>
            </a:r>
            <a:r>
              <a:rPr lang="en-GB" dirty="0"/>
              <a:t>, </a:t>
            </a:r>
            <a:r>
              <a:rPr lang="en-GB" b="1" dirty="0" err="1">
                <a:solidFill>
                  <a:srgbClr val="FF0000"/>
                </a:solidFill>
              </a:rPr>
              <a:t>gProfiler</a:t>
            </a:r>
            <a:r>
              <a:rPr lang="en-GB" dirty="0"/>
              <a:t>, </a:t>
            </a:r>
            <a:r>
              <a:rPr lang="en-GB" dirty="0" err="1"/>
              <a:t>FatiGO</a:t>
            </a:r>
            <a:r>
              <a:rPr lang="en-GB" dirty="0"/>
              <a:t>, </a:t>
            </a:r>
            <a:r>
              <a:rPr lang="en-GB" dirty="0" err="1"/>
              <a:t>GOstats</a:t>
            </a:r>
            <a:r>
              <a:rPr lang="en-GB" dirty="0"/>
              <a:t>, </a:t>
            </a:r>
            <a:r>
              <a:rPr lang="en-GB" dirty="0" err="1"/>
              <a:t>GOToolBox</a:t>
            </a:r>
            <a:r>
              <a:rPr lang="en-GB" dirty="0"/>
              <a:t>, </a:t>
            </a:r>
            <a:r>
              <a:rPr lang="en-GB" dirty="0" err="1"/>
              <a:t>GoMiner</a:t>
            </a:r>
            <a:r>
              <a:rPr lang="en-GB" dirty="0"/>
              <a:t>, </a:t>
            </a:r>
            <a:r>
              <a:rPr lang="en-GB" dirty="0" err="1"/>
              <a:t>WebGestalt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31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ED21-C130-4BA4-8F2F-5613FC8AF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Practical example with web apps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34CE9-E198-4B81-B145-47B3F59FE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DAVID: </a:t>
            </a:r>
            <a:r>
              <a:rPr lang="en-GB" dirty="0">
                <a:hlinkClick r:id="rId2"/>
              </a:rPr>
              <a:t>DAVID Functional Annotation Bioinformatics Microarray Analysis (ncifcrf.gov)</a:t>
            </a:r>
            <a:endParaRPr lang="en-US" dirty="0"/>
          </a:p>
          <a:p>
            <a:r>
              <a:rPr lang="en-US" dirty="0" err="1"/>
              <a:t>gProfiler</a:t>
            </a:r>
            <a:r>
              <a:rPr lang="en-US" dirty="0"/>
              <a:t>: </a:t>
            </a:r>
            <a:r>
              <a:rPr lang="en-GB" dirty="0">
                <a:hlinkClick r:id="rId3"/>
              </a:rPr>
              <a:t>g:Profiler – a web server for functional enrichment analysis and conversions of gene lists (ut.ee)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226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D353-7365-4786-9631-0A011DC8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Practical example with 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7F149-7BE8-4676-8472-361E23339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vjimenezj</a:t>
            </a:r>
            <a:r>
              <a:rPr lang="en-GB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/TRREP (github.com)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https://github.com/vjimenezj/TRREP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2B835-908F-48EC-A4BE-5025F8063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813" y="2960983"/>
            <a:ext cx="4857431" cy="302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16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2DA0-8CCF-401B-B584-D3EFC07F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class scoring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47B55-6AC0-4A50-ACFA-F240526AE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Sensitive to small but coordinated changes in sets of functionally related genes</a:t>
            </a:r>
          </a:p>
          <a:p>
            <a:r>
              <a:rPr lang="en-GB" dirty="0"/>
              <a:t>Used when is hard to find a significance threshold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GSEA</a:t>
            </a:r>
            <a:r>
              <a:rPr lang="en-US" dirty="0"/>
              <a:t>, </a:t>
            </a:r>
            <a:r>
              <a:rPr lang="en-US" dirty="0" err="1"/>
              <a:t>Catmap</a:t>
            </a:r>
            <a:r>
              <a:rPr lang="en-US" dirty="0"/>
              <a:t>, </a:t>
            </a:r>
            <a:r>
              <a:rPr lang="en-US" dirty="0" err="1"/>
              <a:t>GlobalTest</a:t>
            </a:r>
            <a:r>
              <a:rPr lang="en-US" dirty="0"/>
              <a:t>, </a:t>
            </a:r>
            <a:r>
              <a:rPr lang="en-US" dirty="0" err="1"/>
              <a:t>sigPathway</a:t>
            </a:r>
            <a:r>
              <a:rPr lang="en-US" dirty="0"/>
              <a:t>, SAFE, GSA, Category, PADOG, PCOT2, </a:t>
            </a:r>
            <a:r>
              <a:rPr lang="en-US" dirty="0" err="1"/>
              <a:t>FunCluster</a:t>
            </a:r>
            <a:r>
              <a:rPr lang="en-US" dirty="0"/>
              <a:t>, SAM-GS </a:t>
            </a:r>
          </a:p>
        </p:txBody>
      </p:sp>
    </p:spTree>
    <p:extLst>
      <p:ext uri="{BB962C8B-B14F-4D97-AF65-F5344CB8AC3E}">
        <p14:creationId xmlns:p14="http://schemas.microsoft.com/office/powerpoint/2010/main" val="1835650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C036-F721-4ACE-92F2-528983FD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C886-6992-4F26-987E-A4A6BD949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Null hypothesis: Rank ordering is random</a:t>
            </a:r>
          </a:p>
          <a:p>
            <a:r>
              <a:rPr lang="en-US" dirty="0"/>
              <a:t>Sort genes and calculate the running sum (ES)</a:t>
            </a:r>
          </a:p>
          <a:p>
            <a:r>
              <a:rPr lang="en-US" dirty="0"/>
              <a:t>Permute labels/genes and compute significance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73532-EF5E-4663-81C4-4A79A8DF5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159" y="3405472"/>
            <a:ext cx="4965189" cy="308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801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BB71A-B86A-4A7D-A2B4-9D2C66BD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Practical example with GSEA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DFADB-0A51-4C8B-A5C8-FC3BFDBA6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 coding: </a:t>
            </a:r>
            <a:r>
              <a:rPr lang="en-US" dirty="0" err="1"/>
              <a:t>fGSEA</a:t>
            </a:r>
            <a:endParaRPr lang="en-US" dirty="0"/>
          </a:p>
          <a:p>
            <a:pPr marL="0" indent="0">
              <a:buNone/>
            </a:pPr>
            <a:endParaRPr lang="en-GB" dirty="0">
              <a:solidFill>
                <a:srgbClr val="0563C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GB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vjimenezj</a:t>
            </a:r>
            <a:r>
              <a:rPr lang="en-GB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/TRREP (github.com)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https://github.com/vjimenezj/TRREP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979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855C-C5C4-4996-B9A0-6830B287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Pathway topology-based methods – Mathematical </a:t>
            </a:r>
            <a:r>
              <a:rPr lang="en-US" dirty="0" err="1"/>
              <a:t>fundations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9216-3CFD-47A9-8489-5A912828A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Impact analysis:</a:t>
            </a:r>
          </a:p>
          <a:p>
            <a:pPr marL="914400" lvl="1" indent="-457200">
              <a:buAutoNum type="arabicParenR"/>
            </a:pPr>
            <a:r>
              <a:rPr lang="en-US" dirty="0"/>
              <a:t>ORA</a:t>
            </a:r>
          </a:p>
          <a:p>
            <a:pPr marL="914400" lvl="1" indent="-457200">
              <a:buAutoNum type="arabicParenR"/>
            </a:pPr>
            <a:r>
              <a:rPr lang="en-US" dirty="0"/>
              <a:t>Magnitude of the change and relevance in the pathway (position and direction)</a:t>
            </a:r>
          </a:p>
          <a:p>
            <a:pPr marL="457200" lvl="1" indent="0">
              <a:buNone/>
            </a:pPr>
            <a:r>
              <a:rPr lang="en-US" dirty="0"/>
              <a:t>* Changes measured are propagated along the topology of the pathway</a:t>
            </a:r>
          </a:p>
          <a:p>
            <a:endParaRPr lang="en-US" dirty="0"/>
          </a:p>
          <a:p>
            <a:r>
              <a:rPr lang="en-US" b="1" dirty="0" err="1"/>
              <a:t>ROntoTools</a:t>
            </a:r>
            <a:r>
              <a:rPr lang="en-US" b="1" dirty="0"/>
              <a:t>, SPIA, </a:t>
            </a:r>
            <a:r>
              <a:rPr lang="en-US" b="1" dirty="0" err="1"/>
              <a:t>cepaORA</a:t>
            </a:r>
            <a:r>
              <a:rPr lang="en-US" b="1" dirty="0"/>
              <a:t>, </a:t>
            </a:r>
            <a:r>
              <a:rPr lang="en-US" b="1" dirty="0" err="1"/>
              <a:t>cepaGSA</a:t>
            </a:r>
            <a:r>
              <a:rPr lang="en-US" dirty="0"/>
              <a:t>, Pathway-</a:t>
            </a:r>
            <a:r>
              <a:rPr lang="en-US" dirty="0" err="1"/>
              <a:t>Expres</a:t>
            </a:r>
            <a:r>
              <a:rPr lang="en-US" dirty="0"/>
              <a:t>, </a:t>
            </a:r>
            <a:r>
              <a:rPr lang="en-US" dirty="0" err="1"/>
              <a:t>NetGSA</a:t>
            </a:r>
            <a:r>
              <a:rPr lang="en-US" dirty="0"/>
              <a:t>, </a:t>
            </a:r>
            <a:r>
              <a:rPr lang="en-US" dirty="0" err="1"/>
              <a:t>TopoGSA</a:t>
            </a:r>
            <a:r>
              <a:rPr lang="en-US" dirty="0"/>
              <a:t>, </a:t>
            </a:r>
            <a:r>
              <a:rPr lang="en-US" dirty="0" err="1"/>
              <a:t>TopologyGSA</a:t>
            </a:r>
            <a:r>
              <a:rPr lang="en-US" dirty="0"/>
              <a:t>, PWEA, </a:t>
            </a:r>
            <a:r>
              <a:rPr lang="en-US" dirty="0" err="1"/>
              <a:t>PathOlogist</a:t>
            </a:r>
            <a:r>
              <a:rPr lang="en-US" dirty="0"/>
              <a:t>, GGEA, </a:t>
            </a:r>
            <a:r>
              <a:rPr lang="en-US" dirty="0" err="1"/>
              <a:t>PathNet</a:t>
            </a:r>
            <a:r>
              <a:rPr lang="en-US" dirty="0"/>
              <a:t>, BLMA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731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D06D8-951A-453A-8E0F-93325D82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E4DA6-9D78-46D1-8A45-FC83A948C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High impact of outdated gene annotations on pathway enrichment analysis</a:t>
            </a:r>
          </a:p>
          <a:p>
            <a:r>
              <a:rPr lang="en-GB" dirty="0"/>
              <a:t>Hard to choose the best pathway database and tool</a:t>
            </a:r>
          </a:p>
          <a:p>
            <a:r>
              <a:rPr lang="en-US" dirty="0"/>
              <a:t>Misinterpretations due to unspecific pathway terms</a:t>
            </a:r>
          </a:p>
          <a:p>
            <a:r>
              <a:rPr lang="en-US" dirty="0"/>
              <a:t>Requires validation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** Good practice: Include version of DB and tool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381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D395-4DEA-4ED9-AE8C-FADCF514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A1473-6025-488E-ACC5-5A4AB2A9D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Description/Interpretation</a:t>
            </a:r>
          </a:p>
          <a:p>
            <a:r>
              <a:rPr lang="en-US" dirty="0"/>
              <a:t>Hypothesis formulation:</a:t>
            </a:r>
          </a:p>
          <a:p>
            <a:pPr lvl="1">
              <a:buFontTx/>
              <a:buChar char="-"/>
            </a:pPr>
            <a:r>
              <a:rPr lang="en-US" dirty="0"/>
              <a:t>Mechanisms (pathways/TFs involved)</a:t>
            </a:r>
          </a:p>
          <a:p>
            <a:pPr lvl="1">
              <a:buFontTx/>
              <a:buChar char="-"/>
            </a:pPr>
            <a:r>
              <a:rPr lang="en-US" dirty="0"/>
              <a:t>Drugs with similar/opposing effects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1A55B3C-3974-4060-A923-B1B177DDB7AC}"/>
              </a:ext>
            </a:extLst>
          </p:cNvPr>
          <p:cNvGrpSpPr/>
          <p:nvPr/>
        </p:nvGrpSpPr>
        <p:grpSpPr>
          <a:xfrm>
            <a:off x="2054058" y="4157036"/>
            <a:ext cx="1289050" cy="1815306"/>
            <a:chOff x="1936750" y="4001294"/>
            <a:chExt cx="1289050" cy="181530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503D4FD-CA51-4CC3-A741-0716592DB5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5562" y="4114800"/>
              <a:ext cx="1061053" cy="757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53FAB68-01DA-4B19-BF54-EF8DCFE8B5A4}"/>
                </a:ext>
              </a:extLst>
            </p:cNvPr>
            <p:cNvGrpSpPr/>
            <p:nvPr/>
          </p:nvGrpSpPr>
          <p:grpSpPr>
            <a:xfrm>
              <a:off x="2152871" y="5007727"/>
              <a:ext cx="926434" cy="660436"/>
              <a:chOff x="2081461" y="5293896"/>
              <a:chExt cx="926434" cy="660436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143668A-2154-4400-96B4-F38D8182FA88}"/>
                  </a:ext>
                </a:extLst>
              </p:cNvPr>
              <p:cNvSpPr/>
              <p:nvPr/>
            </p:nvSpPr>
            <p:spPr>
              <a:xfrm>
                <a:off x="2081463" y="5293896"/>
                <a:ext cx="926432" cy="18063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2C7D3F6-5F9F-4933-A3EF-43703024FCFD}"/>
                  </a:ext>
                </a:extLst>
              </p:cNvPr>
              <p:cNvCxnSpPr>
                <a:stCxn id="7" idx="2"/>
              </p:cNvCxnSpPr>
              <p:nvPr/>
            </p:nvCxnSpPr>
            <p:spPr>
              <a:xfrm>
                <a:off x="2081463" y="5384211"/>
                <a:ext cx="0" cy="50595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A99004C-133B-4450-B042-6D09E8E61607}"/>
                  </a:ext>
                </a:extLst>
              </p:cNvPr>
              <p:cNvCxnSpPr/>
              <p:nvPr/>
            </p:nvCxnSpPr>
            <p:spPr>
              <a:xfrm>
                <a:off x="3007895" y="5384211"/>
                <a:ext cx="0" cy="50595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F181AD-0DA8-4FF4-8CB1-5BB8FFD50CCF}"/>
                  </a:ext>
                </a:extLst>
              </p:cNvPr>
              <p:cNvSpPr txBox="1"/>
              <p:nvPr/>
            </p:nvSpPr>
            <p:spPr>
              <a:xfrm>
                <a:off x="2081461" y="5528455"/>
                <a:ext cx="9264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Database</a:t>
                </a: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D0C4EC87-ACED-4CD5-9761-3FE7CC11EA38}"/>
                  </a:ext>
                </a:extLst>
              </p:cNvPr>
              <p:cNvSpPr/>
              <p:nvPr/>
            </p:nvSpPr>
            <p:spPr>
              <a:xfrm rot="10800000">
                <a:off x="2081481" y="5773701"/>
                <a:ext cx="926413" cy="180631"/>
              </a:xfrm>
              <a:prstGeom prst="arc">
                <a:avLst>
                  <a:gd name="adj1" fmla="val 10722632"/>
                  <a:gd name="adj2" fmla="val 0"/>
                </a:avLst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E0E878-7097-41C3-A719-C3EA2177AC0D}"/>
                </a:ext>
              </a:extLst>
            </p:cNvPr>
            <p:cNvSpPr txBox="1"/>
            <p:nvPr/>
          </p:nvSpPr>
          <p:spPr>
            <a:xfrm>
              <a:off x="1936750" y="4001294"/>
              <a:ext cx="1289050" cy="181530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indent="-457200" algn="ctr">
                <a:lnSpc>
                  <a:spcPct val="90000"/>
                </a:lnSpc>
                <a:spcBef>
                  <a:spcPts val="1000"/>
                </a:spcBef>
                <a:buSzPct val="100000"/>
                <a:defRPr>
                  <a:latin typeface="Calibri" panose="020F0502020204030204" pitchFamily="34" charset="0"/>
                </a:defRPr>
              </a:lvl1pPr>
              <a:lvl2pPr marL="228600" lvl="1" indent="-228600" algn="ctr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2pPr>
              <a:lvl3pPr marL="685800" lvl="2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3pPr>
              <a:lvl4pPr marL="1143000" lvl="3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4pPr>
              <a:lvl5pPr marL="1600200" lvl="4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5pPr>
              <a:lvl6pPr marL="2057400" lvl="5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6pPr>
              <a:lvl7pPr marL="2514600" lvl="6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7pPr>
              <a:lvl8pPr marL="2971800" lvl="7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8pPr>
              <a:lvl9pPr marL="3429000" lvl="8" indent="-228600" algn="ctr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>
                  <a:latin typeface="Calibri" panose="020F0502020204030204" pitchFamily="34" charset="0"/>
                </a:defRPr>
              </a:lvl9pPr>
            </a:lstStyle>
            <a:p>
              <a:pPr marL="0" lvl="1" indent="0">
                <a:buNone/>
              </a:pPr>
              <a:endParaRPr lang="en-US">
                <a:sym typeface="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C7A9A04-B1C6-400A-99B5-4D99D6247459}"/>
              </a:ext>
            </a:extLst>
          </p:cNvPr>
          <p:cNvSpPr txBox="1"/>
          <p:nvPr/>
        </p:nvSpPr>
        <p:spPr>
          <a:xfrm>
            <a:off x="2298032" y="3789947"/>
            <a:ext cx="854242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indent="-457200">
              <a:lnSpc>
                <a:spcPct val="90000"/>
              </a:lnSpc>
              <a:spcBef>
                <a:spcPts val="1000"/>
              </a:spcBef>
              <a:buSzPct val="100000"/>
              <a:defRPr>
                <a:latin typeface="Calibri" panose="020F0502020204030204" pitchFamily="34" charset="0"/>
              </a:defRPr>
            </a:lvl1pPr>
            <a:lvl2pPr marL="228600" lvl="1" indent="-228600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2pPr>
            <a:lvl3pPr marL="685800" lvl="2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3pPr>
            <a:lvl4pPr marL="1143000" lvl="3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4pPr>
            <a:lvl5pPr marL="1600200" lvl="4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5pPr>
            <a:lvl6pPr marL="2057400" lvl="5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6pPr>
            <a:lvl7pPr marL="2514600" lvl="6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7pPr>
            <a:lvl8pPr marL="2971800" lvl="7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8pPr>
            <a:lvl9pPr marL="3429000" lvl="8" indent="-228600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9pPr>
          </a:lstStyle>
          <a:p>
            <a:pPr marL="0" lvl="1" indent="0" algn="ctr">
              <a:buNone/>
            </a:pPr>
            <a:r>
              <a:rPr lang="en-US" dirty="0">
                <a:sym typeface=""/>
              </a:rPr>
              <a:t>Input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48B518-2E94-403A-967B-D34F144BC995}"/>
              </a:ext>
            </a:extLst>
          </p:cNvPr>
          <p:cNvCxnSpPr/>
          <p:nvPr/>
        </p:nvCxnSpPr>
        <p:spPr>
          <a:xfrm>
            <a:off x="4135772" y="5028532"/>
            <a:ext cx="74662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8371B565-79D6-4E6B-AE86-C558D7020BA0}"/>
              </a:ext>
            </a:extLst>
          </p:cNvPr>
          <p:cNvSpPr/>
          <p:nvPr/>
        </p:nvSpPr>
        <p:spPr>
          <a:xfrm>
            <a:off x="5794310" y="4270542"/>
            <a:ext cx="301690" cy="1553363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EE2E9-4726-4546-8985-D4C404A633FF}"/>
              </a:ext>
            </a:extLst>
          </p:cNvPr>
          <p:cNvSpPr txBox="1"/>
          <p:nvPr/>
        </p:nvSpPr>
        <p:spPr>
          <a:xfrm>
            <a:off x="6059926" y="4346577"/>
            <a:ext cx="60865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Overrepresentation analysis (ORA)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Functional class scoring methods (FCS)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Pathway topology-based methods (PT-based methods)</a:t>
            </a:r>
          </a:p>
        </p:txBody>
      </p:sp>
    </p:spTree>
    <p:extLst>
      <p:ext uri="{BB962C8B-B14F-4D97-AF65-F5344CB8AC3E}">
        <p14:creationId xmlns:p14="http://schemas.microsoft.com/office/powerpoint/2010/main" val="3807317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</TotalTime>
  <Words>1157</Words>
  <Application>Microsoft Office PowerPoint</Application>
  <PresentationFormat>Widescreen</PresentationFormat>
  <Paragraphs>243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-apple-system</vt:lpstr>
      <vt:lpstr>Arial</vt:lpstr>
      <vt:lpstr>Calibri</vt:lpstr>
      <vt:lpstr>Calibri Light</vt:lpstr>
      <vt:lpstr>Cambria Math</vt:lpstr>
      <vt:lpstr>Office Theme</vt:lpstr>
      <vt:lpstr>Functional analysis</vt:lpstr>
      <vt:lpstr>Why functional analysis?</vt:lpstr>
      <vt:lpstr>Data</vt:lpstr>
      <vt:lpstr>Data</vt:lpstr>
      <vt:lpstr>Data</vt:lpstr>
      <vt:lpstr>Data</vt:lpstr>
      <vt:lpstr>Annotation databases</vt:lpstr>
      <vt:lpstr>Broad Molecular Signatures Database (MSigDB)</vt:lpstr>
      <vt:lpstr>Broad Molecular Signatures Database (MSigDB)</vt:lpstr>
      <vt:lpstr>Broad Molecular Signatures Database (MSigDB)</vt:lpstr>
      <vt:lpstr>Broad Molecular Signatures Database (MSigDB)</vt:lpstr>
      <vt:lpstr>Database selection criteria to consider</vt:lpstr>
      <vt:lpstr>PowerPoint Presentation</vt:lpstr>
      <vt:lpstr>Functional analysis</vt:lpstr>
      <vt:lpstr>Overrepresentation analysis (ORA)</vt:lpstr>
      <vt:lpstr>Overrepresentation analysis (ORA)</vt:lpstr>
      <vt:lpstr>Overrepresentation analysis (ORA)</vt:lpstr>
      <vt:lpstr>Multiple testing correction</vt:lpstr>
      <vt:lpstr>Overrepresentation analysis (ORA)</vt:lpstr>
      <vt:lpstr>Practical example with web apps</vt:lpstr>
      <vt:lpstr>Practical example with R</vt:lpstr>
      <vt:lpstr>Functional class scoring methods</vt:lpstr>
      <vt:lpstr>GSEA</vt:lpstr>
      <vt:lpstr>Practical example with GSEA</vt:lpstr>
      <vt:lpstr>Pathway topology-based methods – Mathematical fundations</vt:lpstr>
      <vt:lpstr>CAUTION!!</vt:lpstr>
      <vt:lpstr>Functional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analysis</dc:title>
  <dc:creator>Víctor Jiménez Jiménez</dc:creator>
  <cp:lastModifiedBy>Víctor Jiménez Jiménez</cp:lastModifiedBy>
  <cp:revision>12</cp:revision>
  <dcterms:created xsi:type="dcterms:W3CDTF">2022-02-16T09:16:22Z</dcterms:created>
  <dcterms:modified xsi:type="dcterms:W3CDTF">2022-02-17T05:48:54Z</dcterms:modified>
</cp:coreProperties>
</file>